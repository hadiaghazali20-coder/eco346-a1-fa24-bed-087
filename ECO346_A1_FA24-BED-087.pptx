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4518754-BC0D-81E6-8784-3B1D35CAD985}">
          <p14:sldIdLst>
            <p14:sldId id="256"/>
          </p14:sldIdLst>
        </p14:section>
        <p14:section name="Method" id="{0F8774FA-4399-7278-366E-E5D91518D225}">
          <p14:sldIdLst>
            <p14:sldId id="257"/>
          </p14:sldIdLst>
        </p14:section>
        <p14:section name="Findings" id="{96F3C371-B818-5F50-78B4-527D4C361F8E}">
          <p14:sldIdLst>
            <p14:sldId id="258"/>
          </p14:sldIdLst>
        </p14:section>
        <p14:section name="Conclusion" id="{8EA494C5-D7E3-45AD-CC5D-987EF789DCD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-149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2A408-6D6C-4FE1-B4C8-E750487F4AA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2F08-66D1-40EE-823F-90F9E31F2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1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 and the research objective. The bar graphic is decorative and does not show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Data, Cleaning and Filtering, Weighted Analysis, Visualization. Python reproduced the age-band weighted means (q5_reproduction.py).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are the project outputs Q2_weighted_histogram.svg and Q3_earnings_vs_age.svg (rendered without changing aspect ratio). Figures in the cards come from Q5_age_band_means.csv (weighted mean annual earnings, PKR).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per age band come from Q5_age_band_means.csv.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8C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8C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ECO346 — Data Visualization Techniques for Economists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Earnings and Age in Urban Balochistan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63625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6675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374904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how annual earnings vary across age groups using weighted PSLM survey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62356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Number: FA24-BED-087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562356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7: Urban Balochistan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0" y="4572000"/>
            <a:ext cx="411480" cy="1188720"/>
          </a:xfrm>
          <a:prstGeom prst="roundRect">
            <a:avLst>
              <a:gd name="adj" fmla="val 13333"/>
            </a:avLst>
          </a:prstGeom>
          <a:solidFill>
            <a:srgbClr val="5E8C6A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9328" y="4023360"/>
            <a:ext cx="411480" cy="1737360"/>
          </a:xfrm>
          <a:prstGeom prst="roundRect">
            <a:avLst>
              <a:gd name="adj" fmla="val 13333"/>
            </a:avLst>
          </a:prstGeom>
          <a:solidFill>
            <a:srgbClr val="9DBBA0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06256" y="3657600"/>
            <a:ext cx="411480" cy="2103120"/>
          </a:xfrm>
          <a:prstGeom prst="roundRect">
            <a:avLst>
              <a:gd name="adj" fmla="val 13333"/>
            </a:avLst>
          </a:prstGeom>
          <a:solidFill>
            <a:srgbClr val="5E8C6A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73184" y="3108960"/>
            <a:ext cx="411480" cy="2651760"/>
          </a:xfrm>
          <a:prstGeom prst="roundRect">
            <a:avLst>
              <a:gd name="adj" fmla="val 13333"/>
            </a:avLst>
          </a:prstGeom>
          <a:solidFill>
            <a:srgbClr val="9DBBA0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40112" y="2651760"/>
            <a:ext cx="411480" cy="3108960"/>
          </a:xfrm>
          <a:prstGeom prst="roundRect">
            <a:avLst>
              <a:gd name="adj" fmla="val 13333"/>
            </a:avLst>
          </a:prstGeom>
          <a:solidFill>
            <a:srgbClr val="5E8C6A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2011680"/>
            <a:ext cx="411480" cy="3749040"/>
          </a:xfrm>
          <a:prstGeom prst="roundRect">
            <a:avLst>
              <a:gd name="adj" fmla="val 13333"/>
            </a:avLst>
          </a:prstGeom>
          <a:solidFill>
            <a:srgbClr val="9DBBA0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1280160"/>
            <a:ext cx="411480" cy="4480560"/>
          </a:xfrm>
          <a:prstGeom prst="roundRect">
            <a:avLst>
              <a:gd name="adj" fmla="val 13333"/>
            </a:avLst>
          </a:prstGeom>
          <a:solidFill>
            <a:srgbClr val="1F4D3A"/>
          </a:solidFill>
          <a:ln w="12700">
            <a:solidFill>
              <a:srgbClr val="FAF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graphic only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5E8C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person-level and household-level datasets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using household ID (hhid)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2958084"/>
            <a:ext cx="246888" cy="256032"/>
          </a:xfrm>
          <a:prstGeom prst="rightArrow">
            <a:avLst/>
          </a:prstGeom>
          <a:solidFill>
            <a:srgbClr val="9DBBA0"/>
          </a:solidFill>
          <a:ln w="12700">
            <a:solidFill>
              <a:srgbClr val="9DBB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4630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691640"/>
            <a:ext cx="548640" cy="548640"/>
          </a:xfrm>
          <a:prstGeom prst="ellipse">
            <a:avLst/>
          </a:prstGeom>
          <a:solidFill>
            <a:srgbClr val="5E8C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and Filtering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1546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Balochistan only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15–64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annual earnings only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61888" y="2958084"/>
            <a:ext cx="246888" cy="256032"/>
          </a:xfrm>
          <a:prstGeom prst="rightArrow">
            <a:avLst/>
          </a:prstGeom>
          <a:solidFill>
            <a:srgbClr val="9DBBA0"/>
          </a:solidFill>
          <a:ln w="12700">
            <a:solidFill>
              <a:srgbClr val="9DBB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4630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3096" y="1691640"/>
            <a:ext cx="548640" cy="548640"/>
          </a:xfrm>
          <a:prstGeom prst="ellipse">
            <a:avLst/>
          </a:prstGeom>
          <a:solidFill>
            <a:srgbClr val="5E8C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309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Analysis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31546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weights (hhweight)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earnings by age and age band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69096" y="2958084"/>
            <a:ext cx="246888" cy="256032"/>
          </a:xfrm>
          <a:prstGeom prst="rightArrow">
            <a:avLst/>
          </a:prstGeom>
          <a:solidFill>
            <a:srgbClr val="9DBBA0"/>
          </a:solidFill>
          <a:ln w="12700">
            <a:solidFill>
              <a:srgbClr val="9DBB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1704" y="14630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90304" y="1691640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9030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31546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histogram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vs. age chart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Age-band summary table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02920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0292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2103120" y="502920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preparation, weighted statistics, charts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independent check of age-band means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8C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and Visualizations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77256" cy="3675888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pic>
        <p:nvPicPr>
          <p:cNvPr id="4" name="Image 0" descr="Weighted histogram of annual earnings, Balochistan Urb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5257800" cy="3154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" y="45171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weighted earners fall in the lowest earnings bins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83096" y="1234440"/>
            <a:ext cx="4951476" cy="3675888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pic>
        <p:nvPicPr>
          <p:cNvPr id="7" name="Image 1" descr="Line chart of weighted mean annual earnings by age, Balochistan Urb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344168"/>
            <a:ext cx="4732020" cy="3154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92824" y="4517136"/>
            <a:ext cx="4732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earnings rise with age, but not steadily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52120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5212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15–19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113,382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band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07664" y="52120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90544" y="5212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50–54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399,250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ages 55–59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5248" y="52120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58128" y="5212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55–59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350,772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ages 50–54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942832" y="52120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25712" y="5212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60–64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476,422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D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age band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8C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DDF"/>
            </a:solidFill>
            <a:prstDash val="solid"/>
          </a:ln>
          <a:effectLst>
            <a:outerShdw blurRad="101600" dist="25400" dir="5400000" algn="bl" rotWithShape="0">
              <a:srgbClr val="1F4D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481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annual earnings generally rise across age groups, but not uniformly.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observed age-band mean is for ages 60–64.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and clear visualizations help summarize survey data.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03520" cy="3520440"/>
          </a:xfrm>
          <a:prstGeom prst="roundRect">
            <a:avLst>
              <a:gd name="adj" fmla="val 3117"/>
            </a:avLst>
          </a:prstGeom>
          <a:solidFill>
            <a:srgbClr val="E3EDDF"/>
          </a:solidFill>
          <a:ln w="12700">
            <a:solidFill>
              <a:srgbClr val="E3ED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481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10312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age bands have few observations. Interpret these estimates cautiously.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descriptive analysis. It does not show that age causes higher earnings.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19672" y="39776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DBB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3977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22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15–19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65592" y="39776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DB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5592" y="3977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19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55–59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811512" y="39776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DBB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11512" y="3977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16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60–64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16636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“Weighted visualizations reveal useful earnings patterns, but small age-group samples require caution.”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8C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CO346 Green">
  <a:themeElements>
    <a:clrScheme name="ECO346 Green">
      <a:dk1>
        <a:srgbClr val="2B2B2B"/>
      </a:dk1>
      <a:lt1>
        <a:srgbClr val="FFFFFF"/>
      </a:lt1>
      <a:dk2>
        <a:srgbClr val="1F4D3A"/>
      </a:dk2>
      <a:lt2>
        <a:srgbClr val="FAF7EE"/>
      </a:lt2>
      <a:accent1>
        <a:srgbClr val="1F4D3A"/>
      </a:accent1>
      <a:accent2>
        <a:srgbClr val="5E8C6A"/>
      </a:accent2>
      <a:accent3>
        <a:srgbClr val="9DBBA0"/>
      </a:accent3>
      <a:accent4>
        <a:srgbClr val="DCE8D8"/>
      </a:accent4>
      <a:accent5>
        <a:srgbClr val="B8A06A"/>
      </a:accent5>
      <a:accent6>
        <a:srgbClr val="7A9E7E"/>
      </a:accent6>
      <a:hlink>
        <a:srgbClr val="1F4D3A"/>
      </a:hlink>
      <a:folHlink>
        <a:srgbClr val="5E8C6A"/>
      </a:folHlink>
    </a:clrScheme>
    <a:fontScheme name="ECO346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Office PowerPoint</Application>
  <PresentationFormat>Custom</PresentationFormat>
  <Paragraphs>71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ECO346 Green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Earnings and Age in Urban Balochistan</dc:title>
  <dc:subject>PptxGenJS Presentation</dc:subject>
  <dc:creator>FA24-BED-087</dc:creator>
  <cp:lastModifiedBy>pc</cp:lastModifiedBy>
  <cp:revision>2</cp:revision>
  <dcterms:created xsi:type="dcterms:W3CDTF">2026-10-25T14:48:51Z</dcterms:created>
  <dcterms:modified xsi:type="dcterms:W3CDTF">2026-10-25T15:03:35Z</dcterms:modified>
</cp:coreProperties>
</file>