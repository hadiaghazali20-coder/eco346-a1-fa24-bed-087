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signment 1" id="{0fbcb5e0-a629-f8c9-7f93-43b533172550}">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ECO346 Assignment 1, FA24-BED-087, Variant 7 — Balochistan Urban. Topic: annual earnings distribution and earnings by age. Software: R and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486 earners; weighted median Rs 250,000; unweighted median Rs 264,000; weighted P10 Rs 96,000; weighted P90 Rs 540,000; P90/P10 ratio 5.62; 0 earners excluded from the histogram. Figure is the original 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weighted mean annual earnings by age band, as in the table. The figure is the original R plot by single year of age; the table gives the age-band results. Note the small observation counts in the 55–59 (19) and 60–64 (16)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default R plot (variable-name axis labels such as age_means$age, no title) versus the redesigned plot titled "Annual Earnings Increase with Age, but Not Consistently" with labelled axes with units, larger filled markers, connecting line and light gridlines. Figures converted from the original SVG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ECO346 · Assignment 1 · FA24-BED-087 · Variant 7 — Balochistan Urban</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bar 1"/>
          <p:cNvSpPr/>
          <p:nvPr/>
        </p:nvSpPr>
        <p:spPr>
          <a:xfrm>
            <a:off x="8503920" y="1828800"/>
            <a:ext cx="548640" cy="3291840"/>
          </a:xfrm>
          <a:prstGeom prst="roundRect">
            <a:avLst>
              <a:gd name="adj" fmla="val 8333"/>
            </a:avLst>
          </a:prstGeom>
          <a:solidFill>
            <a:schemeClr val="accent2"/>
          </a:solidFill>
          <a:ln w="12700">
            <a:solidFill>
              <a:schemeClr val="tx2"/>
            </a:solidFill>
            <a:prstDash val="solid"/>
          </a:ln>
        </p:spPr>
      </p:sp>
      <p:sp>
        <p:nvSpPr>
          <p:cNvPr id="3" name="Motif bar 2"/>
          <p:cNvSpPr/>
          <p:nvPr/>
        </p:nvSpPr>
        <p:spPr>
          <a:xfrm>
            <a:off x="9162288" y="2377440"/>
            <a:ext cx="548640" cy="2743200"/>
          </a:xfrm>
          <a:prstGeom prst="roundRect">
            <a:avLst>
              <a:gd name="adj" fmla="val 8333"/>
            </a:avLst>
          </a:prstGeom>
          <a:solidFill>
            <a:schemeClr val="accent2">
              <a:alpha val="92000"/>
            </a:schemeClr>
          </a:solidFill>
          <a:ln w="12700">
            <a:solidFill>
              <a:schemeClr val="tx2"/>
            </a:solidFill>
            <a:prstDash val="solid"/>
          </a:ln>
        </p:spPr>
      </p:sp>
      <p:sp>
        <p:nvSpPr>
          <p:cNvPr id="4" name="Motif bar 3"/>
          <p:cNvSpPr/>
          <p:nvPr/>
        </p:nvSpPr>
        <p:spPr>
          <a:xfrm>
            <a:off x="9820656" y="3383280"/>
            <a:ext cx="548640" cy="1737360"/>
          </a:xfrm>
          <a:prstGeom prst="roundRect">
            <a:avLst>
              <a:gd name="adj" fmla="val 8333"/>
            </a:avLst>
          </a:prstGeom>
          <a:solidFill>
            <a:schemeClr val="accent3">
              <a:alpha val="84000"/>
            </a:schemeClr>
          </a:solidFill>
          <a:ln w="12700">
            <a:solidFill>
              <a:schemeClr val="tx2"/>
            </a:solidFill>
            <a:prstDash val="solid"/>
          </a:ln>
        </p:spPr>
      </p:sp>
      <p:sp>
        <p:nvSpPr>
          <p:cNvPr id="5" name="Motif bar 4"/>
          <p:cNvSpPr/>
          <p:nvPr/>
        </p:nvSpPr>
        <p:spPr>
          <a:xfrm>
            <a:off x="10479024" y="4206240"/>
            <a:ext cx="548640" cy="914400"/>
          </a:xfrm>
          <a:prstGeom prst="roundRect">
            <a:avLst>
              <a:gd name="adj" fmla="val 8333"/>
            </a:avLst>
          </a:prstGeom>
          <a:solidFill>
            <a:schemeClr val="accent3">
              <a:alpha val="76000"/>
            </a:schemeClr>
          </a:solidFill>
          <a:ln w="12700">
            <a:solidFill>
              <a:schemeClr val="tx2"/>
            </a:solidFill>
            <a:prstDash val="solid"/>
          </a:ln>
        </p:spPr>
      </p:sp>
      <p:sp>
        <p:nvSpPr>
          <p:cNvPr id="6" name="Motif bar 5"/>
          <p:cNvSpPr/>
          <p:nvPr/>
        </p:nvSpPr>
        <p:spPr>
          <a:xfrm>
            <a:off x="11137392" y="4663440"/>
            <a:ext cx="548640" cy="457200"/>
          </a:xfrm>
          <a:prstGeom prst="roundRect">
            <a:avLst>
              <a:gd name="adj" fmla="val 10000"/>
            </a:avLst>
          </a:prstGeom>
          <a:solidFill>
            <a:schemeClr val="accent3">
              <a:alpha val="68000"/>
            </a:schemeClr>
          </a:solidFill>
          <a:ln w="12700">
            <a:solidFill>
              <a:schemeClr val="tx2"/>
            </a:solidFill>
            <a:prstDash val="solid"/>
          </a:ln>
        </p:spPr>
      </p:sp>
      <p:sp>
        <p:nvSpPr>
          <p:cNvPr id="7" name="Text 5"/>
          <p:cNvSpPr txBox="1"/>
          <p:nvPr/>
        </p:nvSpPr>
        <p:spPr>
          <a:xfrm>
            <a:off x="731520" y="914400"/>
            <a:ext cx="749808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ECO346 — DATA VISUALIZATION TECHNIQUES FOR ECONOMISTS</a:t>
            </a:r>
            <a:endParaRPr lang="en-US" sz="1400" dirty="0"/>
          </a:p>
        </p:txBody>
      </p:sp>
      <p:sp>
        <p:nvSpPr>
          <p:cNvPr id="8" name="Deck title"/>
          <p:cNvSpPr txBox="1"/>
          <p:nvPr/>
        </p:nvSpPr>
        <p:spPr>
          <a:xfrm>
            <a:off x="731520" y="1463040"/>
            <a:ext cx="7498080" cy="18288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Annual Earnings Distribution and Earnings by Age</a:t>
            </a:r>
            <a:endParaRPr lang="en-US" sz="4400" dirty="0"/>
          </a:p>
        </p:txBody>
      </p:sp>
      <p:sp>
        <p:nvSpPr>
          <p:cNvPr id="9" name="Text 7"/>
          <p:cNvSpPr txBox="1"/>
          <p:nvPr/>
        </p:nvSpPr>
        <p:spPr>
          <a:xfrm>
            <a:off x="731520" y="3474720"/>
            <a:ext cx="7498080" cy="457200"/>
          </a:xfrm>
          <a:prstGeom prst="rect">
            <a:avLst/>
          </a:prstGeom>
          <a:noFill/>
          <a:ln/>
        </p:spPr>
        <p:txBody>
          <a:bodyPr wrap="square" lIns="0" tIns="0" rIns="0" bIns="0" rtlCol="0" anchor="ctr"/>
          <a:lstStyle/>
          <a:p>
            <a:pPr indent="0" marL="0">
              <a:buNone/>
            </a:pPr>
            <a:r>
              <a:rPr lang="en-US" sz="2200" dirty="0">
                <a:solidFill>
                  <a:schemeClr val="bg2"/>
                </a:solidFill>
              </a:rPr>
              <a:t>Assignment 1  ·  Variant 7 — Balochistan Urban</a:t>
            </a:r>
            <a:endParaRPr lang="en-US" sz="2200" dirty="0"/>
          </a:p>
        </p:txBody>
      </p:sp>
      <p:sp>
        <p:nvSpPr>
          <p:cNvPr id="10" name="Details card"/>
          <p:cNvSpPr/>
          <p:nvPr/>
        </p:nvSpPr>
        <p:spPr>
          <a:xfrm>
            <a:off x="731520" y="4480560"/>
            <a:ext cx="6035040" cy="1234440"/>
          </a:xfrm>
          <a:prstGeom prst="roundRect">
            <a:avLst>
              <a:gd name="adj" fmla="val 5926"/>
            </a:avLst>
          </a:prstGeom>
          <a:solidFill>
            <a:schemeClr val="bg1">
              <a:alpha val="10000"/>
            </a:schemeClr>
          </a:solidFill>
          <a:ln w="12700">
            <a:solidFill>
              <a:schemeClr val="accent3"/>
            </a:solidFill>
            <a:prstDash val="solid"/>
          </a:ln>
        </p:spPr>
      </p:sp>
      <p:sp>
        <p:nvSpPr>
          <p:cNvPr id="11" name="Details text"/>
          <p:cNvSpPr txBox="1"/>
          <p:nvPr/>
        </p:nvSpPr>
        <p:spPr>
          <a:xfrm>
            <a:off x="960120" y="4480560"/>
            <a:ext cx="5669280" cy="1234440"/>
          </a:xfrm>
          <a:prstGeom prst="rect">
            <a:avLst/>
          </a:prstGeom>
          <a:noFill/>
          <a:ln/>
        </p:spPr>
        <p:txBody>
          <a:bodyPr wrap="square" lIns="0" tIns="0" rIns="0" bIns="0" rtlCol="0" anchor="ctr"/>
          <a:lstStyle/>
          <a:p>
            <a:pPr indent="0" marL="0">
              <a:spcAft>
                <a:spcPts val="600"/>
              </a:spcAft>
              <a:buNone/>
            </a:pPr>
            <a:r>
              <a:rPr lang="en-US" sz="1800" b="1" dirty="0">
                <a:solidFill>
                  <a:schemeClr val="accent2"/>
                </a:solidFill>
              </a:rPr>
              <a:t>Registration Number:  </a:t>
            </a:r>
            <a:pPr indent="0" marL="0">
              <a:spcAft>
                <a:spcPts val="600"/>
              </a:spcAft>
              <a:buNone/>
            </a:pPr>
            <a:r>
              <a:rPr lang="en-US" sz="1800" dirty="0">
                <a:solidFill>
                  <a:schemeClr val="bg1"/>
                </a:solidFill>
              </a:rPr>
              <a:t>FA24-BED-087</a:t>
            </a:r>
            <a:endParaRPr lang="en-US" sz="1800" dirty="0"/>
          </a:p>
          <a:p>
            <a:pPr indent="0" marL="0">
              <a:spcAft>
                <a:spcPts val="600"/>
              </a:spcAft>
              <a:buNone/>
            </a:pPr>
            <a:r>
              <a:rPr lang="en-US" sz="1800" b="1" dirty="0">
                <a:solidFill>
                  <a:schemeClr val="accent2"/>
                </a:solidFill>
              </a:rPr>
              <a:t>Software:  </a:t>
            </a:r>
            <a:pPr indent="0" marL="0">
              <a:spcAft>
                <a:spcPts val="600"/>
              </a:spcAft>
              <a:buNone/>
            </a:pPr>
            <a:r>
              <a:rPr lang="en-US" sz="1800" dirty="0">
                <a:solidFill>
                  <a:schemeClr val="bg1"/>
                </a:solidFill>
              </a:rPr>
              <a:t>R and Python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 title"/>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Q2 · Distribution of Annual Earnings</a:t>
            </a:r>
            <a:endParaRPr lang="en-US" sz="3200" dirty="0"/>
          </a:p>
        </p:txBody>
      </p:sp>
      <p:sp>
        <p:nvSpPr>
          <p:cNvPr id="3" name="Slide subtitle"/>
          <p:cNvSpPr txBox="1"/>
          <p:nvPr/>
        </p:nvSpPr>
        <p:spPr>
          <a:xfrm>
            <a:off x="548640" y="987552"/>
            <a:ext cx="11091672" cy="320040"/>
          </a:xfrm>
          <a:prstGeom prst="rect">
            <a:avLst/>
          </a:prstGeom>
          <a:noFill/>
          <a:ln/>
        </p:spPr>
        <p:txBody>
          <a:bodyPr wrap="square" lIns="0" tIns="0" rIns="0" bIns="0" rtlCol="0" anchor="ctr"/>
          <a:lstStyle/>
          <a:p>
            <a:pPr indent="0" marL="0">
              <a:buNone/>
            </a:pPr>
            <a:r>
              <a:rPr lang="en-US" sz="1400" dirty="0">
                <a:solidFill>
                  <a:schemeClr val="accent1"/>
                </a:solidFill>
              </a:rPr>
              <a:t>Weighted histogram of annual earnings — Balochistan Urban</a:t>
            </a:r>
            <a:endParaRPr lang="en-US" sz="1400" dirty="0"/>
          </a:p>
        </p:txBody>
      </p:sp>
      <p:sp>
        <p:nvSpPr>
          <p:cNvPr id="4" name="Figure card"/>
          <p:cNvSpPr/>
          <p:nvPr/>
        </p:nvSpPr>
        <p:spPr>
          <a:xfrm>
            <a:off x="548640" y="1554480"/>
            <a:ext cx="6400800" cy="4069080"/>
          </a:xfrm>
          <a:prstGeom prst="roundRect">
            <a:avLst>
              <a:gd name="adj" fmla="val 1798"/>
            </a:avLst>
          </a:prstGeom>
          <a:solidFill>
            <a:schemeClr val="bg1"/>
          </a:solidFill>
          <a:ln w="12700">
            <a:solidFill>
              <a:schemeClr val="bg2"/>
            </a:solidFill>
            <a:prstDash val="solid"/>
          </a:ln>
          <a:effectLst>
            <a:outerShdw sx="100000" sy="100000" kx="0" ky="0" algn="bl" rotWithShape="0" blurRad="76200" dist="25400" dir="5400000">
              <a:srgbClr val="000000">
                <a:alpha val="12000"/>
              </a:srgbClr>
            </a:outerShdw>
          </a:effectLst>
        </p:spPr>
      </p:sp>
      <p:pic>
        <p:nvPicPr>
          <p:cNvPr id="5" name="Image 0" descr="Weighted histogram of annual earnings in Balochistan Urban, right-skewed with most weighted frequency in the lowest earnings bins">    </p:cNvPr>
          <p:cNvPicPr>
            <a:picLocks noChangeAspect="1"/>
          </p:cNvPicPr>
          <p:nvPr/>
        </p:nvPicPr>
        <p:blipFill>
          <a:blip r:embed="rId1"/>
          <a:stretch>
            <a:fillRect/>
          </a:stretch>
        </p:blipFill>
        <p:spPr>
          <a:xfrm>
            <a:off x="685800" y="1691640"/>
            <a:ext cx="6126480" cy="3675888"/>
          </a:xfrm>
          <a:prstGeom prst="rect">
            <a:avLst/>
          </a:prstGeom>
        </p:spPr>
      </p:pic>
      <p:sp>
        <p:nvSpPr>
          <p:cNvPr id="6" name="Text 3"/>
          <p:cNvSpPr txBox="1"/>
          <p:nvPr/>
        </p:nvSpPr>
        <p:spPr>
          <a:xfrm>
            <a:off x="548640" y="5760720"/>
            <a:ext cx="6400800" cy="274320"/>
          </a:xfrm>
          <a:prstGeom prst="rect">
            <a:avLst/>
          </a:prstGeom>
          <a:noFill/>
          <a:ln/>
        </p:spPr>
        <p:txBody>
          <a:bodyPr wrap="square" lIns="0" tIns="0" rIns="0" bIns="0" rtlCol="0" anchor="ctr"/>
          <a:lstStyle/>
          <a:p>
            <a:pPr indent="0" marL="0">
              <a:buNone/>
            </a:pPr>
            <a:r>
              <a:rPr lang="en-US" sz="1200" i="1" dirty="0">
                <a:solidFill>
                  <a:schemeClr val="accent4"/>
                </a:solidFill>
              </a:rPr>
              <a:t>Weighted histogram of annual earnings (PKR)</a:t>
            </a:r>
            <a:endParaRPr lang="en-US" sz="1200" dirty="0"/>
          </a:p>
        </p:txBody>
      </p:sp>
      <p:sp>
        <p:nvSpPr>
          <p:cNvPr id="7" name="Stat card 1"/>
          <p:cNvSpPr/>
          <p:nvPr/>
        </p:nvSpPr>
        <p:spPr>
          <a:xfrm>
            <a:off x="7315200" y="1554480"/>
            <a:ext cx="2084832" cy="1051560"/>
          </a:xfrm>
          <a:prstGeom prst="roundRect">
            <a:avLst>
              <a:gd name="adj" fmla="val 6957"/>
            </a:avLst>
          </a:prstGeom>
          <a:solidFill>
            <a:schemeClr val="bg2"/>
          </a:solidFill>
          <a:ln w="12700">
            <a:solidFill>
              <a:schemeClr val="bg2"/>
            </a:solidFill>
            <a:prstDash val="solid"/>
          </a:ln>
        </p:spPr>
      </p:sp>
      <p:sp>
        <p:nvSpPr>
          <p:cNvPr id="8" name="Text 5"/>
          <p:cNvSpPr txBox="1"/>
          <p:nvPr/>
        </p:nvSpPr>
        <p:spPr>
          <a:xfrm>
            <a:off x="7406640" y="1645920"/>
            <a:ext cx="1901952"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Cambria" pitchFamily="34" charset="0"/>
                <a:ea typeface="Cambria" pitchFamily="34" charset="-122"/>
                <a:cs typeface="Cambria" pitchFamily="34" charset="-120"/>
              </a:rPr>
              <a:t>486</a:t>
            </a:r>
            <a:endParaRPr lang="en-US" sz="2400" dirty="0"/>
          </a:p>
        </p:txBody>
      </p:sp>
      <p:sp>
        <p:nvSpPr>
          <p:cNvPr id="9" name="Text 6"/>
          <p:cNvSpPr txBox="1"/>
          <p:nvPr/>
        </p:nvSpPr>
        <p:spPr>
          <a:xfrm>
            <a:off x="7406640" y="2148840"/>
            <a:ext cx="1901952" cy="365760"/>
          </a:xfrm>
          <a:prstGeom prst="rect">
            <a:avLst/>
          </a:prstGeom>
          <a:noFill/>
          <a:ln/>
        </p:spPr>
        <p:txBody>
          <a:bodyPr wrap="square" lIns="0" tIns="0" rIns="0" bIns="0" rtlCol="0" anchor="t"/>
          <a:lstStyle/>
          <a:p>
            <a:pPr indent="0" marL="0">
              <a:buNone/>
            </a:pPr>
            <a:r>
              <a:rPr lang="en-US" sz="1300" dirty="0">
                <a:solidFill>
                  <a:schemeClr val="tx1"/>
                </a:solidFill>
              </a:rPr>
              <a:t>earners in the sample</a:t>
            </a:r>
            <a:endParaRPr lang="en-US" sz="1300" dirty="0"/>
          </a:p>
        </p:txBody>
      </p:sp>
      <p:sp>
        <p:nvSpPr>
          <p:cNvPr id="10" name="Stat card 2"/>
          <p:cNvSpPr/>
          <p:nvPr/>
        </p:nvSpPr>
        <p:spPr>
          <a:xfrm>
            <a:off x="9555480" y="1554480"/>
            <a:ext cx="2084832" cy="1051560"/>
          </a:xfrm>
          <a:prstGeom prst="roundRect">
            <a:avLst>
              <a:gd name="adj" fmla="val 6957"/>
            </a:avLst>
          </a:prstGeom>
          <a:solidFill>
            <a:schemeClr val="bg2"/>
          </a:solidFill>
          <a:ln w="12700">
            <a:solidFill>
              <a:schemeClr val="bg2"/>
            </a:solidFill>
            <a:prstDash val="solid"/>
          </a:ln>
        </p:spPr>
      </p:sp>
      <p:sp>
        <p:nvSpPr>
          <p:cNvPr id="11" name="Text 8"/>
          <p:cNvSpPr txBox="1"/>
          <p:nvPr/>
        </p:nvSpPr>
        <p:spPr>
          <a:xfrm>
            <a:off x="9646920" y="1645920"/>
            <a:ext cx="1901952"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Cambria" pitchFamily="34" charset="0"/>
                <a:ea typeface="Cambria" pitchFamily="34" charset="-122"/>
                <a:cs typeface="Cambria" pitchFamily="34" charset="-120"/>
              </a:rPr>
              <a:t>Rs 250,000</a:t>
            </a:r>
            <a:endParaRPr lang="en-US" sz="2400" dirty="0"/>
          </a:p>
        </p:txBody>
      </p:sp>
      <p:sp>
        <p:nvSpPr>
          <p:cNvPr id="12" name="Text 9"/>
          <p:cNvSpPr txBox="1"/>
          <p:nvPr/>
        </p:nvSpPr>
        <p:spPr>
          <a:xfrm>
            <a:off x="9646920" y="2148840"/>
            <a:ext cx="1901952" cy="365760"/>
          </a:xfrm>
          <a:prstGeom prst="rect">
            <a:avLst/>
          </a:prstGeom>
          <a:noFill/>
          <a:ln/>
        </p:spPr>
        <p:txBody>
          <a:bodyPr wrap="square" lIns="0" tIns="0" rIns="0" bIns="0" rtlCol="0" anchor="t"/>
          <a:lstStyle/>
          <a:p>
            <a:pPr indent="0" marL="0">
              <a:buNone/>
            </a:pPr>
            <a:r>
              <a:rPr lang="en-US" sz="1300" dirty="0">
                <a:solidFill>
                  <a:schemeClr val="tx1"/>
                </a:solidFill>
              </a:rPr>
              <a:t>weighted median</a:t>
            </a:r>
            <a:endParaRPr lang="en-US" sz="1300" dirty="0"/>
          </a:p>
        </p:txBody>
      </p:sp>
      <p:sp>
        <p:nvSpPr>
          <p:cNvPr id="13" name="Stat card 3"/>
          <p:cNvSpPr/>
          <p:nvPr/>
        </p:nvSpPr>
        <p:spPr>
          <a:xfrm>
            <a:off x="7315200" y="2743200"/>
            <a:ext cx="2084832" cy="1051560"/>
          </a:xfrm>
          <a:prstGeom prst="roundRect">
            <a:avLst>
              <a:gd name="adj" fmla="val 6957"/>
            </a:avLst>
          </a:prstGeom>
          <a:solidFill>
            <a:schemeClr val="bg2"/>
          </a:solidFill>
          <a:ln w="12700">
            <a:solidFill>
              <a:schemeClr val="bg2"/>
            </a:solidFill>
            <a:prstDash val="solid"/>
          </a:ln>
        </p:spPr>
      </p:sp>
      <p:sp>
        <p:nvSpPr>
          <p:cNvPr id="14" name="Text 11"/>
          <p:cNvSpPr txBox="1"/>
          <p:nvPr/>
        </p:nvSpPr>
        <p:spPr>
          <a:xfrm>
            <a:off x="7406640" y="2834640"/>
            <a:ext cx="1901952"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Cambria" pitchFamily="34" charset="0"/>
                <a:ea typeface="Cambria" pitchFamily="34" charset="-122"/>
                <a:cs typeface="Cambria" pitchFamily="34" charset="-120"/>
              </a:rPr>
              <a:t>Rs 264,000</a:t>
            </a:r>
            <a:endParaRPr lang="en-US" sz="2400" dirty="0"/>
          </a:p>
        </p:txBody>
      </p:sp>
      <p:sp>
        <p:nvSpPr>
          <p:cNvPr id="15" name="Text 12"/>
          <p:cNvSpPr txBox="1"/>
          <p:nvPr/>
        </p:nvSpPr>
        <p:spPr>
          <a:xfrm>
            <a:off x="7406640" y="3337560"/>
            <a:ext cx="1901952" cy="365760"/>
          </a:xfrm>
          <a:prstGeom prst="rect">
            <a:avLst/>
          </a:prstGeom>
          <a:noFill/>
          <a:ln/>
        </p:spPr>
        <p:txBody>
          <a:bodyPr wrap="square" lIns="0" tIns="0" rIns="0" bIns="0" rtlCol="0" anchor="t"/>
          <a:lstStyle/>
          <a:p>
            <a:pPr indent="0" marL="0">
              <a:buNone/>
            </a:pPr>
            <a:r>
              <a:rPr lang="en-US" sz="1300" dirty="0">
                <a:solidFill>
                  <a:schemeClr val="tx1"/>
                </a:solidFill>
              </a:rPr>
              <a:t>unweighted median</a:t>
            </a:r>
            <a:endParaRPr lang="en-US" sz="1300" dirty="0"/>
          </a:p>
        </p:txBody>
      </p:sp>
      <p:sp>
        <p:nvSpPr>
          <p:cNvPr id="16" name="Stat card 4"/>
          <p:cNvSpPr/>
          <p:nvPr/>
        </p:nvSpPr>
        <p:spPr>
          <a:xfrm>
            <a:off x="9555480" y="2743200"/>
            <a:ext cx="2084832" cy="1051560"/>
          </a:xfrm>
          <a:prstGeom prst="roundRect">
            <a:avLst>
              <a:gd name="adj" fmla="val 6957"/>
            </a:avLst>
          </a:prstGeom>
          <a:solidFill>
            <a:schemeClr val="bg2"/>
          </a:solidFill>
          <a:ln w="12700">
            <a:solidFill>
              <a:schemeClr val="bg2"/>
            </a:solidFill>
            <a:prstDash val="solid"/>
          </a:ln>
        </p:spPr>
      </p:sp>
      <p:sp>
        <p:nvSpPr>
          <p:cNvPr id="17" name="Text 14"/>
          <p:cNvSpPr txBox="1"/>
          <p:nvPr/>
        </p:nvSpPr>
        <p:spPr>
          <a:xfrm>
            <a:off x="9646920" y="2834640"/>
            <a:ext cx="1901952"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Cambria" pitchFamily="34" charset="0"/>
                <a:ea typeface="Cambria" pitchFamily="34" charset="-122"/>
                <a:cs typeface="Cambria" pitchFamily="34" charset="-120"/>
              </a:rPr>
              <a:t>5.62</a:t>
            </a:r>
            <a:endParaRPr lang="en-US" sz="2400" dirty="0"/>
          </a:p>
        </p:txBody>
      </p:sp>
      <p:sp>
        <p:nvSpPr>
          <p:cNvPr id="18" name="Text 15"/>
          <p:cNvSpPr txBox="1"/>
          <p:nvPr/>
        </p:nvSpPr>
        <p:spPr>
          <a:xfrm>
            <a:off x="9646920" y="3337560"/>
            <a:ext cx="1901952" cy="365760"/>
          </a:xfrm>
          <a:prstGeom prst="rect">
            <a:avLst/>
          </a:prstGeom>
          <a:noFill/>
          <a:ln/>
        </p:spPr>
        <p:txBody>
          <a:bodyPr wrap="square" lIns="0" tIns="0" rIns="0" bIns="0" rtlCol="0" anchor="t"/>
          <a:lstStyle/>
          <a:p>
            <a:pPr indent="0" marL="0">
              <a:buNone/>
            </a:pPr>
            <a:r>
              <a:rPr lang="en-US" sz="1300" dirty="0">
                <a:solidFill>
                  <a:schemeClr val="tx1"/>
                </a:solidFill>
              </a:rPr>
              <a:t>90th-to-10th percentile ratio</a:t>
            </a:r>
            <a:endParaRPr lang="en-US" sz="1300" dirty="0"/>
          </a:p>
        </p:txBody>
      </p:sp>
      <p:sp>
        <p:nvSpPr>
          <p:cNvPr id="19" name="Interpretation"/>
          <p:cNvSpPr txBox="1"/>
          <p:nvPr/>
        </p:nvSpPr>
        <p:spPr>
          <a:xfrm>
            <a:off x="7315200" y="4023360"/>
            <a:ext cx="4325112" cy="1783080"/>
          </a:xfrm>
          <a:prstGeom prst="rect">
            <a:avLst/>
          </a:prstGeom>
          <a:noFill/>
          <a:ln/>
        </p:spPr>
        <p:txBody>
          <a:bodyPr wrap="square" lIns="0" tIns="0" rIns="0" bIns="0" rtlCol="0" anchor="t"/>
          <a:lstStyle/>
          <a:p>
            <a:pPr indent="0" marL="0">
              <a:spcAft>
                <a:spcPts val="800"/>
              </a:spcAft>
              <a:buNone/>
            </a:pPr>
            <a:r>
              <a:rPr lang="en-US" sz="1400" b="1" dirty="0">
                <a:solidFill>
                  <a:schemeClr val="tx2"/>
                </a:solidFill>
              </a:rPr>
              <a:t>Right-skewed: </a:t>
            </a:r>
            <a:pPr indent="0" marL="0">
              <a:spcAft>
                <a:spcPts val="800"/>
              </a:spcAft>
              <a:buNone/>
            </a:pPr>
            <a:r>
              <a:rPr lang="en-US" sz="1400" dirty="0">
                <a:solidFill>
                  <a:schemeClr val="tx1"/>
                </a:solidFill>
              </a:rPr>
              <a:t>weighted frequency is concentrated in the lowest bins, with a thin upper tail.</a:t>
            </a:r>
            <a:endParaRPr lang="en-US" sz="1400" dirty="0"/>
          </a:p>
          <a:p>
            <a:pPr indent="0" marL="0">
              <a:spcAft>
                <a:spcPts val="800"/>
              </a:spcAft>
              <a:buNone/>
            </a:pPr>
            <a:r>
              <a:rPr lang="en-US" sz="1400" b="1" dirty="0">
                <a:solidFill>
                  <a:schemeClr val="tx2"/>
                </a:solidFill>
              </a:rPr>
              <a:t>Weights matter: </a:t>
            </a:r>
            <a:pPr indent="0" marL="0">
              <a:spcAft>
                <a:spcPts val="800"/>
              </a:spcAft>
              <a:buNone/>
            </a:pPr>
            <a:r>
              <a:rPr lang="en-US" sz="1400" dirty="0">
                <a:solidFill>
                  <a:schemeClr val="tx1"/>
                </a:solidFill>
              </a:rPr>
              <a:t>weighted median is below the unweighted median.</a:t>
            </a:r>
            <a:endParaRPr lang="en-US" sz="1400" dirty="0"/>
          </a:p>
          <a:p>
            <a:pPr indent="0" marL="0">
              <a:spcAft>
                <a:spcPts val="800"/>
              </a:spcAft>
              <a:buNone/>
            </a:pPr>
            <a:r>
              <a:rPr lang="en-US" sz="1400" b="1" dirty="0">
                <a:solidFill>
                  <a:schemeClr val="tx2"/>
                </a:solidFill>
              </a:rPr>
              <a:t>Dispersion: </a:t>
            </a:r>
            <a:pPr indent="0" marL="0">
              <a:spcAft>
                <a:spcPts val="800"/>
              </a:spcAft>
              <a:buNone/>
            </a:pPr>
            <a:r>
              <a:rPr lang="en-US" sz="1400" dirty="0">
                <a:solidFill>
                  <a:schemeClr val="tx1"/>
                </a:solidFill>
              </a:rPr>
              <a:t>P10 = Rs 96,000 and P90 = Rs 540,000. Earners excluded: 0.</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 title"/>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Q3 · Annual Earnings versus Age</a:t>
            </a:r>
            <a:endParaRPr lang="en-US" sz="3200" dirty="0"/>
          </a:p>
        </p:txBody>
      </p:sp>
      <p:sp>
        <p:nvSpPr>
          <p:cNvPr id="3" name="Slide subtitle"/>
          <p:cNvSpPr txBox="1"/>
          <p:nvPr/>
        </p:nvSpPr>
        <p:spPr>
          <a:xfrm>
            <a:off x="548640" y="987552"/>
            <a:ext cx="11091672" cy="320040"/>
          </a:xfrm>
          <a:prstGeom prst="rect">
            <a:avLst/>
          </a:prstGeom>
          <a:noFill/>
          <a:ln/>
        </p:spPr>
        <p:txBody>
          <a:bodyPr wrap="square" lIns="0" tIns="0" rIns="0" bIns="0" rtlCol="0" anchor="ctr"/>
          <a:lstStyle/>
          <a:p>
            <a:pPr indent="0" marL="0">
              <a:buNone/>
            </a:pPr>
            <a:r>
              <a:rPr lang="en-US" sz="1400" dirty="0">
                <a:solidFill>
                  <a:schemeClr val="accent1"/>
                </a:solidFill>
              </a:rPr>
              <a:t>Weighted mean annual earnings by age — Balochistan Urban</a:t>
            </a:r>
            <a:endParaRPr lang="en-US" sz="1400" dirty="0"/>
          </a:p>
        </p:txBody>
      </p:sp>
      <p:sp>
        <p:nvSpPr>
          <p:cNvPr id="4" name="Figure card"/>
          <p:cNvSpPr/>
          <p:nvPr/>
        </p:nvSpPr>
        <p:spPr>
          <a:xfrm>
            <a:off x="548640" y="1554480"/>
            <a:ext cx="5943600" cy="4114800"/>
          </a:xfrm>
          <a:prstGeom prst="roundRect">
            <a:avLst>
              <a:gd name="adj" fmla="val 1778"/>
            </a:avLst>
          </a:prstGeom>
          <a:solidFill>
            <a:schemeClr val="bg1"/>
          </a:solidFill>
          <a:ln w="12700">
            <a:solidFill>
              <a:schemeClr val="bg2"/>
            </a:solidFill>
            <a:prstDash val="solid"/>
          </a:ln>
          <a:effectLst>
            <a:outerShdw sx="100000" sy="100000" kx="0" ky="0" algn="bl" rotWithShape="0" blurRad="76200" dist="25400" dir="5400000">
              <a:srgbClr val="000000">
                <a:alpha val="12000"/>
              </a:srgbClr>
            </a:outerShdw>
          </a:effectLst>
        </p:spPr>
      </p:sp>
      <p:pic>
        <p:nvPicPr>
          <p:cNvPr id="5" name="Image 0" descr="Line plot of weighted mean annual earnings by single year of age, rising from about age 15 with large fluctuations at older ages">    </p:cNvPr>
          <p:cNvPicPr>
            <a:picLocks noChangeAspect="1"/>
          </p:cNvPicPr>
          <p:nvPr/>
        </p:nvPicPr>
        <p:blipFill>
          <a:blip r:embed="rId1"/>
          <a:srcRect l="-939" r="-939" t="0" b="0"/>
          <a:stretch/>
        </p:blipFill>
        <p:spPr>
          <a:xfrm>
            <a:off x="685800" y="1664208"/>
            <a:ext cx="5669280" cy="3895344"/>
          </a:xfrm>
          <a:prstGeom prst="rect">
            <a:avLst/>
          </a:prstGeom>
        </p:spPr>
      </p:pic>
      <p:sp>
        <p:nvSpPr>
          <p:cNvPr id="6" name="Text 3"/>
          <p:cNvSpPr txBox="1"/>
          <p:nvPr/>
        </p:nvSpPr>
        <p:spPr>
          <a:xfrm>
            <a:off x="548640" y="5779008"/>
            <a:ext cx="5943600" cy="274320"/>
          </a:xfrm>
          <a:prstGeom prst="rect">
            <a:avLst/>
          </a:prstGeom>
          <a:noFill/>
          <a:ln/>
        </p:spPr>
        <p:txBody>
          <a:bodyPr wrap="square" lIns="0" tIns="0" rIns="0" bIns="0" rtlCol="0" anchor="ctr"/>
          <a:lstStyle/>
          <a:p>
            <a:pPr indent="0" marL="0">
              <a:buNone/>
            </a:pPr>
            <a:r>
              <a:rPr lang="en-US" sz="1200" i="1" dirty="0">
                <a:solidFill>
                  <a:schemeClr val="accent4"/>
                </a:solidFill>
              </a:rPr>
              <a:t>Weighted mean annual earnings (PKR) by single year of age</a:t>
            </a:r>
            <a:endParaRPr lang="en-US" sz="1200" dirty="0"/>
          </a:p>
        </p:txBody>
      </p:sp>
      <p:graphicFrame>
        <p:nvGraphicFramePr>
          <p:cNvPr id="4" name="Age band table"/>
          <p:cNvGraphicFramePr>
            <a:graphicFrameLocks noGrp="1"/>
          </p:cNvGraphicFramePr>
          <p:nvPr>
            <p:extLst>
              <p:ext uri="{D42A27DB-BD31-4B8C-83A1-F6EECF244321}">
                <p14:modId xmlns:p14="http://schemas.microsoft.com/office/powerpoint/2010/main" val="1579011935"/>
              </p:ext>
            </p:extLst>
          </p:nvPr>
        </p:nvGraphicFramePr>
        <p:xfrm>
          <a:off x="6858000" y="1554480"/>
          <a:ext cx="4782312" cy="914400"/>
        </p:xfrm>
        <a:graphic>
          <a:graphicData uri="http://schemas.openxmlformats.org/drawingml/2006/table">
            <a:tbl>
              <a:tblPr/>
              <a:tblGrid>
                <a:gridCol w="1371600"/>
                <a:gridCol w="914400"/>
                <a:gridCol w="2496312"/>
              </a:tblGrid>
              <a:tr h="265176">
                <a:tc>
                  <a:txBody>
                    <a:bodyPr/>
                    <a:lstStyle/>
                    <a:p>
                      <a:pPr algn="l" indent="0" marL="0">
                        <a:buNone/>
                      </a:pPr>
                      <a:r>
                        <a:rPr lang="en-US" sz="1200" b="1" dirty="0">
                          <a:solidFill>
                            <a:schemeClr val="bg1"/>
                          </a:solidFill>
                        </a:rPr>
                        <a:t>Age band</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200" b="1" dirty="0">
                          <a:solidFill>
                            <a:schemeClr val="bg1"/>
                          </a:solidFill>
                        </a:rPr>
                        <a:t>Obs.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200" b="1" dirty="0">
                          <a:solidFill>
                            <a:schemeClr val="bg1"/>
                          </a:solidFill>
                        </a:rPr>
                        <a:t>Weighted mean (Rs)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accent1"/>
                    </a:solidFill>
                  </a:tcPr>
                </a:tc>
              </a:tr>
              <a:tr h="265176">
                <a:tc>
                  <a:txBody>
                    <a:bodyPr/>
                    <a:lstStyle/>
                    <a:p>
                      <a:pPr algn="l" indent="0" marL="0">
                        <a:buNone/>
                      </a:pPr>
                      <a:r>
                        <a:rPr lang="en-US" sz="1200" dirty="0">
                          <a:solidFill>
                            <a:schemeClr val="tx1"/>
                          </a:solidFill>
                        </a:rPr>
                        <a:t>15–19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22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113,382.46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265176">
                <a:tc>
                  <a:txBody>
                    <a:bodyPr/>
                    <a:lstStyle/>
                    <a:p>
                      <a:pPr algn="l" indent="0" marL="0">
                        <a:buNone/>
                      </a:pPr>
                      <a:r>
                        <a:rPr lang="en-US" sz="1200" dirty="0">
                          <a:solidFill>
                            <a:schemeClr val="tx1"/>
                          </a:solidFill>
                        </a:rPr>
                        <a:t>20–24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56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220,435.42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265176">
                <a:tc>
                  <a:txBody>
                    <a:bodyPr/>
                    <a:lstStyle/>
                    <a:p>
                      <a:pPr algn="l" indent="0" marL="0">
                        <a:buNone/>
                      </a:pPr>
                      <a:r>
                        <a:rPr lang="en-US" sz="1200" dirty="0">
                          <a:solidFill>
                            <a:schemeClr val="tx1"/>
                          </a:solidFill>
                        </a:rPr>
                        <a:t>25–29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69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307,993.90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265176">
                <a:tc>
                  <a:txBody>
                    <a:bodyPr/>
                    <a:lstStyle/>
                    <a:p>
                      <a:pPr algn="l" indent="0" marL="0">
                        <a:buNone/>
                      </a:pPr>
                      <a:r>
                        <a:rPr lang="en-US" sz="1200" dirty="0">
                          <a:solidFill>
                            <a:schemeClr val="tx1"/>
                          </a:solidFill>
                        </a:rPr>
                        <a:t>30–34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62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316,658.92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265176">
                <a:tc>
                  <a:txBody>
                    <a:bodyPr/>
                    <a:lstStyle/>
                    <a:p>
                      <a:pPr algn="l" indent="0" marL="0">
                        <a:buNone/>
                      </a:pPr>
                      <a:r>
                        <a:rPr lang="en-US" sz="1200" dirty="0">
                          <a:solidFill>
                            <a:schemeClr val="tx1"/>
                          </a:solidFill>
                        </a:rPr>
                        <a:t>35–39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80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302,070.95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265176">
                <a:tc>
                  <a:txBody>
                    <a:bodyPr/>
                    <a:lstStyle/>
                    <a:p>
                      <a:pPr algn="l" indent="0" marL="0">
                        <a:buNone/>
                      </a:pPr>
                      <a:r>
                        <a:rPr lang="en-US" sz="1200" dirty="0">
                          <a:solidFill>
                            <a:schemeClr val="tx1"/>
                          </a:solidFill>
                        </a:rPr>
                        <a:t>40–44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60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316,146.86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265176">
                <a:tc>
                  <a:txBody>
                    <a:bodyPr/>
                    <a:lstStyle/>
                    <a:p>
                      <a:pPr algn="l" indent="0" marL="0">
                        <a:buNone/>
                      </a:pPr>
                      <a:r>
                        <a:rPr lang="en-US" sz="1200" dirty="0">
                          <a:solidFill>
                            <a:schemeClr val="tx1"/>
                          </a:solidFill>
                        </a:rPr>
                        <a:t>45–49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47</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372,723.28</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265176">
                <a:tc>
                  <a:txBody>
                    <a:bodyPr/>
                    <a:lstStyle/>
                    <a:p>
                      <a:pPr algn="l" indent="0" marL="0">
                        <a:buNone/>
                      </a:pPr>
                      <a:r>
                        <a:rPr lang="en-US" sz="1200" dirty="0">
                          <a:solidFill>
                            <a:schemeClr val="tx1"/>
                          </a:solidFill>
                        </a:rPr>
                        <a:t>50–54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55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399,249.56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265176">
                <a:tc>
                  <a:txBody>
                    <a:bodyPr/>
                    <a:lstStyle/>
                    <a:p>
                      <a:pPr algn="l" indent="0" marL="0">
                        <a:buNone/>
                      </a:pPr>
                      <a:r>
                        <a:rPr lang="en-US" sz="1200" dirty="0">
                          <a:solidFill>
                            <a:schemeClr val="tx1"/>
                          </a:solidFill>
                        </a:rPr>
                        <a:t>55–59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19</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350,772.06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265176">
                <a:tc>
                  <a:txBody>
                    <a:bodyPr/>
                    <a:lstStyle/>
                    <a:p>
                      <a:pPr algn="l" indent="0" marL="0">
                        <a:buNone/>
                      </a:pPr>
                      <a:r>
                        <a:rPr lang="en-US" sz="1200" dirty="0">
                          <a:solidFill>
                            <a:schemeClr val="tx1"/>
                          </a:solidFill>
                        </a:rPr>
                        <a:t>60–64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16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476,422.01</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8" name="Interpretation"/>
          <p:cNvSpPr txBox="1"/>
          <p:nvPr/>
        </p:nvSpPr>
        <p:spPr>
          <a:xfrm>
            <a:off x="6858000" y="4663440"/>
            <a:ext cx="4782312" cy="1371600"/>
          </a:xfrm>
          <a:prstGeom prst="rect">
            <a:avLst/>
          </a:prstGeom>
          <a:noFill/>
          <a:ln/>
        </p:spPr>
        <p:txBody>
          <a:bodyPr wrap="square" lIns="0" tIns="0" rIns="0" bIns="0" rtlCol="0" anchor="t"/>
          <a:lstStyle/>
          <a:p>
            <a:pPr indent="0" marL="0">
              <a:buNone/>
            </a:pPr>
            <a:r>
              <a:rPr lang="en-US" sz="1400" b="1" dirty="0">
                <a:solidFill>
                  <a:schemeClr val="tx2"/>
                </a:solidFill>
              </a:rPr>
              <a:t>Earnings rise with age overall, </a:t>
            </a:r>
            <a:pPr indent="0" marL="0">
              <a:buNone/>
            </a:pPr>
            <a:r>
              <a:rPr lang="en-US" sz="1400" dirty="0">
                <a:solidFill>
                  <a:schemeClr val="tx1"/>
                </a:solidFill>
              </a:rPr>
              <a:t>from Rs 113,382 (15–19) to Rs 476,422 (60–64), but not steadily: 55–59 (Rs 350,772) is below 50–54 (Rs 399,250). The oldest bands rest on few observations (19 and 16).</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 title"/>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Q4 · Default Plot versus Redesigned Plot</a:t>
            </a:r>
            <a:endParaRPr lang="en-US" sz="3200" dirty="0"/>
          </a:p>
        </p:txBody>
      </p:sp>
      <p:sp>
        <p:nvSpPr>
          <p:cNvPr id="3" name="Slide subtitle"/>
          <p:cNvSpPr txBox="1"/>
          <p:nvPr/>
        </p:nvSpPr>
        <p:spPr>
          <a:xfrm>
            <a:off x="548640" y="987552"/>
            <a:ext cx="11091672" cy="320040"/>
          </a:xfrm>
          <a:prstGeom prst="rect">
            <a:avLst/>
          </a:prstGeom>
          <a:noFill/>
          <a:ln/>
        </p:spPr>
        <p:txBody>
          <a:bodyPr wrap="square" lIns="0" tIns="0" rIns="0" bIns="0" rtlCol="0" anchor="ctr"/>
          <a:lstStyle/>
          <a:p>
            <a:pPr indent="0" marL="0">
              <a:buNone/>
            </a:pPr>
            <a:r>
              <a:rPr lang="en-US" sz="1400" dirty="0">
                <a:solidFill>
                  <a:schemeClr val="accent1"/>
                </a:solidFill>
              </a:rPr>
              <a:t>Same data, same relationship — redesigned for clearer communication</a:t>
            </a:r>
            <a:endParaRPr lang="en-US" sz="1400" dirty="0"/>
          </a:p>
        </p:txBody>
      </p:sp>
      <p:sp>
        <p:nvSpPr>
          <p:cNvPr id="4" name="Text 2"/>
          <p:cNvSpPr txBox="1"/>
          <p:nvPr/>
        </p:nvSpPr>
        <p:spPr>
          <a:xfrm>
            <a:off x="548640" y="1463040"/>
            <a:ext cx="5303520" cy="274320"/>
          </a:xfrm>
          <a:prstGeom prst="rect">
            <a:avLst/>
          </a:prstGeom>
          <a:noFill/>
          <a:ln/>
        </p:spPr>
        <p:txBody>
          <a:bodyPr wrap="square" lIns="0" tIns="0" rIns="0" bIns="0" rtlCol="0" anchor="ctr"/>
          <a:lstStyle/>
          <a:p>
            <a:pPr indent="0" marL="0">
              <a:buNone/>
            </a:pPr>
            <a:r>
              <a:rPr lang="en-US" sz="1400" b="1" spc="200" kern="0" dirty="0">
                <a:solidFill>
                  <a:schemeClr val="accent4"/>
                </a:solidFill>
              </a:rPr>
              <a:t>DEFAULT</a:t>
            </a:r>
            <a:endParaRPr lang="en-US" sz="1400" dirty="0"/>
          </a:p>
        </p:txBody>
      </p:sp>
      <p:sp>
        <p:nvSpPr>
          <p:cNvPr id="5" name="Figure card"/>
          <p:cNvSpPr/>
          <p:nvPr/>
        </p:nvSpPr>
        <p:spPr>
          <a:xfrm>
            <a:off x="548640" y="1783080"/>
            <a:ext cx="5303520" cy="3108960"/>
          </a:xfrm>
          <a:prstGeom prst="roundRect">
            <a:avLst>
              <a:gd name="adj" fmla="val 2353"/>
            </a:avLst>
          </a:prstGeom>
          <a:solidFill>
            <a:schemeClr val="bg1"/>
          </a:solidFill>
          <a:ln w="12700">
            <a:solidFill>
              <a:schemeClr val="bg2"/>
            </a:solidFill>
            <a:prstDash val="solid"/>
          </a:ln>
          <a:effectLst>
            <a:outerShdw sx="100000" sy="100000" kx="0" ky="0" algn="bl" rotWithShape="0" blurRad="76200" dist="25400" dir="5400000">
              <a:srgbClr val="000000">
                <a:alpha val="12000"/>
              </a:srgbClr>
            </a:outerShdw>
          </a:effectLst>
        </p:spPr>
      </p:sp>
      <p:pic>
        <p:nvPicPr>
          <p:cNvPr id="6" name="Image 0" descr="Default R scatter plot of weighted mean earnings by age with variable-name axis labels and no title">    </p:cNvPr>
          <p:cNvPicPr>
            <a:picLocks noChangeAspect="1"/>
          </p:cNvPicPr>
          <p:nvPr/>
        </p:nvPicPr>
        <p:blipFill>
          <a:blip r:embed="rId1"/>
          <a:srcRect l="0" r="0" t="0" b="0"/>
          <a:stretch/>
        </p:blipFill>
        <p:spPr>
          <a:xfrm>
            <a:off x="640080" y="1856232"/>
            <a:ext cx="5120640" cy="2962656"/>
          </a:xfrm>
          <a:prstGeom prst="rect">
            <a:avLst/>
          </a:prstGeom>
        </p:spPr>
      </p:pic>
      <p:sp>
        <p:nvSpPr>
          <p:cNvPr id="7" name="Text 4"/>
          <p:cNvSpPr txBox="1"/>
          <p:nvPr/>
        </p:nvSpPr>
        <p:spPr>
          <a:xfrm>
            <a:off x="6336792" y="1463040"/>
            <a:ext cx="5303520" cy="274320"/>
          </a:xfrm>
          <a:prstGeom prst="rect">
            <a:avLst/>
          </a:prstGeom>
          <a:noFill/>
          <a:ln/>
        </p:spPr>
        <p:txBody>
          <a:bodyPr wrap="square" lIns="0" tIns="0" rIns="0" bIns="0" rtlCol="0" anchor="ctr"/>
          <a:lstStyle/>
          <a:p>
            <a:pPr indent="0" marL="0">
              <a:buNone/>
            </a:pPr>
            <a:r>
              <a:rPr lang="en-US" sz="1400" b="1" spc="200" kern="0" dirty="0">
                <a:solidFill>
                  <a:schemeClr val="accent1"/>
                </a:solidFill>
              </a:rPr>
              <a:t>REDESIGNED</a:t>
            </a:r>
            <a:endParaRPr lang="en-US" sz="1400" dirty="0"/>
          </a:p>
        </p:txBody>
      </p:sp>
      <p:sp>
        <p:nvSpPr>
          <p:cNvPr id="8" name="Figure card"/>
          <p:cNvSpPr/>
          <p:nvPr/>
        </p:nvSpPr>
        <p:spPr>
          <a:xfrm>
            <a:off x="6336792" y="1783080"/>
            <a:ext cx="5303520" cy="3108960"/>
          </a:xfrm>
          <a:prstGeom prst="roundRect">
            <a:avLst>
              <a:gd name="adj" fmla="val 2353"/>
            </a:avLst>
          </a:prstGeom>
          <a:solidFill>
            <a:schemeClr val="bg1"/>
          </a:solidFill>
          <a:ln w="12700">
            <a:solidFill>
              <a:schemeClr val="bg2"/>
            </a:solidFill>
            <a:prstDash val="solid"/>
          </a:ln>
          <a:effectLst>
            <a:outerShdw sx="100000" sy="100000" kx="0" ky="0" algn="bl" rotWithShape="0" blurRad="76200" dist="25400" dir="5400000">
              <a:srgbClr val="000000">
                <a:alpha val="12000"/>
              </a:srgbClr>
            </a:outerShdw>
          </a:effectLst>
        </p:spPr>
      </p:sp>
      <p:pic>
        <p:nvPicPr>
          <p:cNvPr id="9" name="Image 1" descr="Redesigned line plot titled Annual Earnings Increase with Age, but Not Consistently, with labelled axes and gridlines">    </p:cNvPr>
          <p:cNvPicPr>
            <a:picLocks noChangeAspect="1"/>
          </p:cNvPicPr>
          <p:nvPr/>
        </p:nvPicPr>
        <p:blipFill>
          <a:blip r:embed="rId2"/>
          <a:srcRect l="0" r="0" t="0" b="0"/>
          <a:stretch/>
        </p:blipFill>
        <p:spPr>
          <a:xfrm>
            <a:off x="6428232" y="1856232"/>
            <a:ext cx="5120640" cy="2962656"/>
          </a:xfrm>
          <a:prstGeom prst="rect">
            <a:avLst/>
          </a:prstGeom>
        </p:spPr>
      </p:pic>
      <p:sp>
        <p:nvSpPr>
          <p:cNvPr id="10" name="Improvement card 1"/>
          <p:cNvSpPr/>
          <p:nvPr/>
        </p:nvSpPr>
        <p:spPr>
          <a:xfrm>
            <a:off x="548640" y="5120640"/>
            <a:ext cx="3566160" cy="1143000"/>
          </a:xfrm>
          <a:prstGeom prst="roundRect">
            <a:avLst>
              <a:gd name="adj" fmla="val 6400"/>
            </a:avLst>
          </a:prstGeom>
          <a:solidFill>
            <a:schemeClr val="bg2"/>
          </a:solidFill>
          <a:ln w="12700">
            <a:solidFill>
              <a:schemeClr val="bg2"/>
            </a:solidFill>
            <a:prstDash val="solid"/>
          </a:ln>
        </p:spPr>
      </p:sp>
      <p:sp>
        <p:nvSpPr>
          <p:cNvPr id="11" name="Text 7"/>
          <p:cNvSpPr txBox="1"/>
          <p:nvPr/>
        </p:nvSpPr>
        <p:spPr>
          <a:xfrm>
            <a:off x="685800" y="5166360"/>
            <a:ext cx="3291840" cy="1051560"/>
          </a:xfrm>
          <a:prstGeom prst="rect">
            <a:avLst/>
          </a:prstGeom>
          <a:noFill/>
          <a:ln/>
        </p:spPr>
        <p:txBody>
          <a:bodyPr wrap="square" lIns="0" tIns="0" rIns="0" bIns="0" rtlCol="0" anchor="ctr"/>
          <a:lstStyle/>
          <a:p>
            <a:pPr indent="0" marL="0">
              <a:spcAft>
                <a:spcPts val="300"/>
              </a:spcAft>
              <a:buNone/>
            </a:pPr>
            <a:r>
              <a:rPr lang="en-US" sz="1400" b="1" dirty="0">
                <a:solidFill>
                  <a:schemeClr val="accent1"/>
                </a:solidFill>
              </a:rPr>
              <a:t>Informative title</a:t>
            </a:r>
            <a:endParaRPr lang="en-US" sz="1400" dirty="0"/>
          </a:p>
          <a:p>
            <a:pPr indent="0" marL="0">
              <a:spcAft>
                <a:spcPts val="300"/>
              </a:spcAft>
              <a:buNone/>
            </a:pPr>
            <a:r>
              <a:rPr lang="en-US" sz="1300" dirty="0">
                <a:solidFill>
                  <a:schemeClr val="tx1"/>
                </a:solidFill>
              </a:rPr>
              <a:t>States the finding instead of leaving the plot untitled.</a:t>
            </a:r>
            <a:endParaRPr lang="en-US" sz="1400" dirty="0"/>
          </a:p>
        </p:txBody>
      </p:sp>
      <p:sp>
        <p:nvSpPr>
          <p:cNvPr id="12" name="Improvement card 2"/>
          <p:cNvSpPr/>
          <p:nvPr/>
        </p:nvSpPr>
        <p:spPr>
          <a:xfrm>
            <a:off x="4325112" y="5120640"/>
            <a:ext cx="3566160" cy="1143000"/>
          </a:xfrm>
          <a:prstGeom prst="roundRect">
            <a:avLst>
              <a:gd name="adj" fmla="val 6400"/>
            </a:avLst>
          </a:prstGeom>
          <a:solidFill>
            <a:schemeClr val="bg2"/>
          </a:solidFill>
          <a:ln w="12700">
            <a:solidFill>
              <a:schemeClr val="bg2"/>
            </a:solidFill>
            <a:prstDash val="solid"/>
          </a:ln>
        </p:spPr>
      </p:sp>
      <p:sp>
        <p:nvSpPr>
          <p:cNvPr id="13" name="Text 9"/>
          <p:cNvSpPr txBox="1"/>
          <p:nvPr/>
        </p:nvSpPr>
        <p:spPr>
          <a:xfrm>
            <a:off x="4462272" y="5166360"/>
            <a:ext cx="3291840" cy="1051560"/>
          </a:xfrm>
          <a:prstGeom prst="rect">
            <a:avLst/>
          </a:prstGeom>
          <a:noFill/>
          <a:ln/>
        </p:spPr>
        <p:txBody>
          <a:bodyPr wrap="square" lIns="0" tIns="0" rIns="0" bIns="0" rtlCol="0" anchor="ctr"/>
          <a:lstStyle/>
          <a:p>
            <a:pPr indent="0" marL="0">
              <a:spcAft>
                <a:spcPts val="300"/>
              </a:spcAft>
              <a:buNone/>
            </a:pPr>
            <a:r>
              <a:rPr lang="en-US" sz="1400" b="1" dirty="0">
                <a:solidFill>
                  <a:schemeClr val="accent1"/>
                </a:solidFill>
              </a:rPr>
              <a:t>Readable labels</a:t>
            </a:r>
            <a:endParaRPr lang="en-US" sz="1400" dirty="0"/>
          </a:p>
          <a:p>
            <a:pPr indent="0" marL="0">
              <a:spcAft>
                <a:spcPts val="300"/>
              </a:spcAft>
              <a:buNone/>
            </a:pPr>
            <a:r>
              <a:rPr lang="en-US" sz="1300" dirty="0">
                <a:solidFill>
                  <a:schemeClr val="tx1"/>
                </a:solidFill>
              </a:rPr>
              <a:t>“Age (years)” and “Weighted mean annual earnings (PKR)” replace variable names.</a:t>
            </a:r>
            <a:endParaRPr lang="en-US" sz="1400" dirty="0"/>
          </a:p>
        </p:txBody>
      </p:sp>
      <p:sp>
        <p:nvSpPr>
          <p:cNvPr id="14" name="Improvement card 3"/>
          <p:cNvSpPr/>
          <p:nvPr/>
        </p:nvSpPr>
        <p:spPr>
          <a:xfrm>
            <a:off x="8101584" y="5120640"/>
            <a:ext cx="3566160" cy="1143000"/>
          </a:xfrm>
          <a:prstGeom prst="roundRect">
            <a:avLst>
              <a:gd name="adj" fmla="val 6400"/>
            </a:avLst>
          </a:prstGeom>
          <a:solidFill>
            <a:schemeClr val="bg2"/>
          </a:solidFill>
          <a:ln w="12700">
            <a:solidFill>
              <a:schemeClr val="bg2"/>
            </a:solidFill>
            <a:prstDash val="solid"/>
          </a:ln>
        </p:spPr>
      </p:sp>
      <p:sp>
        <p:nvSpPr>
          <p:cNvPr id="15" name="Text 11"/>
          <p:cNvSpPr txBox="1"/>
          <p:nvPr/>
        </p:nvSpPr>
        <p:spPr>
          <a:xfrm>
            <a:off x="8238744" y="5166360"/>
            <a:ext cx="3291840" cy="1051560"/>
          </a:xfrm>
          <a:prstGeom prst="rect">
            <a:avLst/>
          </a:prstGeom>
          <a:noFill/>
          <a:ln/>
        </p:spPr>
        <p:txBody>
          <a:bodyPr wrap="square" lIns="0" tIns="0" rIns="0" bIns="0" rtlCol="0" anchor="ctr"/>
          <a:lstStyle/>
          <a:p>
            <a:pPr indent="0" marL="0">
              <a:spcAft>
                <a:spcPts val="300"/>
              </a:spcAft>
              <a:buNone/>
            </a:pPr>
            <a:r>
              <a:rPr lang="en-US" sz="1400" b="1" dirty="0">
                <a:solidFill>
                  <a:schemeClr val="accent1"/>
                </a:solidFill>
              </a:rPr>
              <a:t>Clearer encoding</a:t>
            </a:r>
            <a:endParaRPr lang="en-US" sz="1400" dirty="0"/>
          </a:p>
          <a:p>
            <a:pPr indent="0" marL="0">
              <a:spcAft>
                <a:spcPts val="300"/>
              </a:spcAft>
              <a:buNone/>
            </a:pPr>
            <a:r>
              <a:rPr lang="en-US" sz="1300" dirty="0">
                <a:solidFill>
                  <a:schemeClr val="tx1"/>
                </a:solidFill>
              </a:rPr>
              <a:t>Filled markers, a connecting line and light gridlines show the age pattern.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Motif bar 1"/>
          <p:cNvSpPr/>
          <p:nvPr/>
        </p:nvSpPr>
        <p:spPr>
          <a:xfrm>
            <a:off x="4864608" y="1097280"/>
            <a:ext cx="347472" cy="1280160"/>
          </a:xfrm>
          <a:prstGeom prst="roundRect">
            <a:avLst>
              <a:gd name="adj" fmla="val 10526"/>
            </a:avLst>
          </a:prstGeom>
          <a:solidFill>
            <a:schemeClr val="accent2"/>
          </a:solidFill>
          <a:ln w="12700">
            <a:solidFill>
              <a:schemeClr val="tx2"/>
            </a:solidFill>
            <a:prstDash val="solid"/>
          </a:ln>
        </p:spPr>
      </p:sp>
      <p:sp>
        <p:nvSpPr>
          <p:cNvPr id="3" name="Motif bar 2"/>
          <p:cNvSpPr/>
          <p:nvPr/>
        </p:nvSpPr>
        <p:spPr>
          <a:xfrm>
            <a:off x="5321808" y="1371600"/>
            <a:ext cx="347472" cy="1005840"/>
          </a:xfrm>
          <a:prstGeom prst="roundRect">
            <a:avLst>
              <a:gd name="adj" fmla="val 10526"/>
            </a:avLst>
          </a:prstGeom>
          <a:solidFill>
            <a:schemeClr val="accent2"/>
          </a:solidFill>
          <a:ln w="12700">
            <a:solidFill>
              <a:schemeClr val="tx2"/>
            </a:solidFill>
            <a:prstDash val="solid"/>
          </a:ln>
        </p:spPr>
      </p:sp>
      <p:sp>
        <p:nvSpPr>
          <p:cNvPr id="4" name="Motif bar 3"/>
          <p:cNvSpPr/>
          <p:nvPr/>
        </p:nvSpPr>
        <p:spPr>
          <a:xfrm>
            <a:off x="5779008" y="1737360"/>
            <a:ext cx="347472" cy="640080"/>
          </a:xfrm>
          <a:prstGeom prst="roundRect">
            <a:avLst>
              <a:gd name="adj" fmla="val 10526"/>
            </a:avLst>
          </a:prstGeom>
          <a:solidFill>
            <a:schemeClr val="accent3"/>
          </a:solidFill>
          <a:ln w="12700">
            <a:solidFill>
              <a:schemeClr val="tx2"/>
            </a:solidFill>
            <a:prstDash val="solid"/>
          </a:ln>
        </p:spPr>
      </p:sp>
      <p:sp>
        <p:nvSpPr>
          <p:cNvPr id="5" name="Motif bar 4"/>
          <p:cNvSpPr/>
          <p:nvPr/>
        </p:nvSpPr>
        <p:spPr>
          <a:xfrm>
            <a:off x="6236208" y="2011680"/>
            <a:ext cx="347472" cy="365760"/>
          </a:xfrm>
          <a:prstGeom prst="roundRect">
            <a:avLst>
              <a:gd name="adj" fmla="val 10526"/>
            </a:avLst>
          </a:prstGeom>
          <a:solidFill>
            <a:schemeClr val="accent3"/>
          </a:solidFill>
          <a:ln w="12700">
            <a:solidFill>
              <a:schemeClr val="tx2"/>
            </a:solidFill>
            <a:prstDash val="solid"/>
          </a:ln>
        </p:spPr>
      </p:sp>
      <p:sp>
        <p:nvSpPr>
          <p:cNvPr id="6" name="Motif bar 5"/>
          <p:cNvSpPr/>
          <p:nvPr/>
        </p:nvSpPr>
        <p:spPr>
          <a:xfrm>
            <a:off x="6693408" y="2194560"/>
            <a:ext cx="347472" cy="182880"/>
          </a:xfrm>
          <a:prstGeom prst="roundRect">
            <a:avLst>
              <a:gd name="adj" fmla="val 20000"/>
            </a:avLst>
          </a:prstGeom>
          <a:solidFill>
            <a:schemeClr val="accent3"/>
          </a:solidFill>
          <a:ln w="12700">
            <a:solidFill>
              <a:schemeClr val="tx2"/>
            </a:solidFill>
            <a:prstDash val="solid"/>
          </a:ln>
        </p:spPr>
      </p:sp>
      <p:sp>
        <p:nvSpPr>
          <p:cNvPr id="7" name="Thank you"/>
          <p:cNvSpPr txBox="1"/>
          <p:nvPr/>
        </p:nvSpPr>
        <p:spPr>
          <a:xfrm>
            <a:off x="548640" y="2743200"/>
            <a:ext cx="11091672" cy="1188720"/>
          </a:xfrm>
          <a:prstGeom prst="rect">
            <a:avLst/>
          </a:prstGeom>
          <a:noFill/>
          <a:ln/>
        </p:spPr>
        <p:txBody>
          <a:bodyPr wrap="square" lIns="0" tIns="0" rIns="0" bIns="0" rtlCol="0" anchor="ctr"/>
          <a:lstStyle/>
          <a:p>
            <a:pPr algn="ctr" indent="0" marL="0">
              <a:buNone/>
            </a:pPr>
            <a:r>
              <a:rPr lang="en-US" sz="6600" b="1" spc="600" kern="0" dirty="0">
                <a:solidFill>
                  <a:schemeClr val="bg1"/>
                </a:solidFill>
                <a:latin typeface="Cambria" pitchFamily="34" charset="0"/>
                <a:ea typeface="Cambria" pitchFamily="34" charset="-122"/>
                <a:cs typeface="Cambria" pitchFamily="34" charset="-120"/>
              </a:rPr>
              <a:t>THANK YOU</a:t>
            </a:r>
            <a:endParaRPr lang="en-US" sz="6600" dirty="0"/>
          </a:p>
        </p:txBody>
      </p:sp>
      <p:sp>
        <p:nvSpPr>
          <p:cNvPr id="8" name="Text 6"/>
          <p:cNvSpPr txBox="1"/>
          <p:nvPr/>
        </p:nvSpPr>
        <p:spPr>
          <a:xfrm>
            <a:off x="548640" y="4114800"/>
            <a:ext cx="11091672" cy="411480"/>
          </a:xfrm>
          <a:prstGeom prst="rect">
            <a:avLst/>
          </a:prstGeom>
          <a:noFill/>
          <a:ln/>
        </p:spPr>
        <p:txBody>
          <a:bodyPr wrap="square" lIns="0" tIns="0" rIns="0" bIns="0" rtlCol="0" anchor="ctr"/>
          <a:lstStyle/>
          <a:p>
            <a:pPr algn="ctr" indent="0" marL="0">
              <a:buNone/>
            </a:pPr>
            <a:r>
              <a:rPr lang="en-US" sz="2000" dirty="0">
                <a:solidFill>
                  <a:schemeClr val="accent2"/>
                </a:solidFill>
              </a:rPr>
              <a:t>ECO346 · Assignment 1 · FA24-BED-087</a:t>
            </a:r>
            <a:endParaRPr lang="en-US" sz="2000" dirty="0"/>
          </a:p>
        </p:txBody>
      </p:sp>
      <p:sp>
        <p:nvSpPr>
          <p:cNvPr id="9" name="Text 7"/>
          <p:cNvSpPr txBox="1"/>
          <p:nvPr/>
        </p:nvSpPr>
        <p:spPr>
          <a:xfrm>
            <a:off x="548640" y="4572000"/>
            <a:ext cx="11091672" cy="411480"/>
          </a:xfrm>
          <a:prstGeom prst="rect">
            <a:avLst/>
          </a:prstGeom>
          <a:noFill/>
          <a:ln/>
        </p:spPr>
        <p:txBody>
          <a:bodyPr wrap="square" lIns="0" tIns="0" rIns="0" bIns="0" rtlCol="0" anchor="ctr"/>
          <a:lstStyle/>
          <a:p>
            <a:pPr algn="ctr" indent="0" marL="0">
              <a:buNone/>
            </a:pPr>
            <a:r>
              <a:rPr lang="en-US" sz="1800" dirty="0">
                <a:solidFill>
                  <a:schemeClr val="bg2"/>
                </a:solidFill>
              </a:rPr>
              <a:t>Variant 7 — Balochistan Urban</a:t>
            </a:r>
            <a:endParaRPr lang="en-US" sz="1800" dirty="0"/>
          </a:p>
        </p:txBody>
      </p:sp>
    </p:spTree>
  </p:cSld>
  <p:clrMapOvr>
    <a:masterClrMapping/>
  </p:clrMapOvr>
</p:sld>
</file>

<file path=ppt/theme/theme1.xml><?xml version="1.0" encoding="utf-8"?>
<a:theme xmlns:a="http://schemas.openxmlformats.org/drawingml/2006/main" name="ECO346 Academic">
  <a:themeElements>
    <a:clrScheme name="ECO346 Academic">
      <a:dk1>
        <a:srgbClr val="1B2A24"/>
      </a:dk1>
      <a:lt1>
        <a:srgbClr val="FFFFFF"/>
      </a:lt1>
      <a:dk2>
        <a:srgbClr val="14352A"/>
      </a:dk2>
      <a:lt2>
        <a:srgbClr val="EEF3F0"/>
      </a:lt2>
      <a:accent1>
        <a:srgbClr val="1F6F4A"/>
      </a:accent1>
      <a:accent2>
        <a:srgbClr val="C8963E"/>
      </a:accent2>
      <a:accent3>
        <a:srgbClr val="5E8C75"/>
      </a:accent3>
      <a:accent4>
        <a:srgbClr val="8A9A92"/>
      </a:accent4>
      <a:accent5>
        <a:srgbClr val="2F4F6F"/>
      </a:accent5>
      <a:accent6>
        <a:srgbClr val="A6523F"/>
      </a:accent6>
      <a:hlink>
        <a:srgbClr val="1F6F4A"/>
      </a:hlink>
      <a:folHlink>
        <a:srgbClr val="5E8C75"/>
      </a:folHlink>
    </a:clrScheme>
    <a:fontScheme name="ECO346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Annual Earnings Distribution and Earnings by Age</dc:title>
  <dc:subject>PptxGenJS Presentation</dc:subject>
  <dc:creator>FA24-BED-087</dc:creator>
  <cp:lastModifiedBy>FA24-BED-087</cp:lastModifiedBy>
  <cp:revision>1</cp:revision>
  <dcterms:created xsi:type="dcterms:W3CDTF">2026-10-25T17:25:28Z</dcterms:created>
  <dcterms:modified xsi:type="dcterms:W3CDTF">2026-10-25T17:25:28Z</dcterms:modified>
</cp:coreProperties>
</file>